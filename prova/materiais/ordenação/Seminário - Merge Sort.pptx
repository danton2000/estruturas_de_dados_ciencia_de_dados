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Semi-Bold Italics" charset="1" panose="00000700000000000000"/>
      <p:regular r:id="rId15"/>
    </p:embeddedFont>
    <p:embeddedFont>
      <p:font typeface="Poppins" charset="1" panose="00000500000000000000"/>
      <p:regular r:id="rId16"/>
    </p:embeddedFont>
    <p:embeddedFont>
      <p:font typeface="Poppins Bold Italics" charset="1" panose="00000800000000000000"/>
      <p:regular r:id="rId17"/>
    </p:embeddedFont>
    <p:embeddedFont>
      <p:font typeface="Poppins Light" charset="1" panose="00000400000000000000"/>
      <p:regular r:id="rId18"/>
    </p:embeddedFont>
    <p:embeddedFont>
      <p:font typeface="Poppins Bold" charset="1" panose="00000800000000000000"/>
      <p:regular r:id="rId19"/>
    </p:embeddedFont>
    <p:embeddedFont>
      <p:font typeface="Poppins Semi-Bold" charset="1" panose="000007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486902">
            <a:off x="7785301" y="-3215281"/>
            <a:ext cx="7472246" cy="15919408"/>
            <a:chOff x="0" y="0"/>
            <a:chExt cx="1967999" cy="41927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7999" cy="4192766"/>
            </a:xfrm>
            <a:custGeom>
              <a:avLst/>
              <a:gdLst/>
              <a:ahLst/>
              <a:cxnLst/>
              <a:rect r="r" b="b" t="t" l="l"/>
              <a:pathLst>
                <a:path h="4192766" w="1967999">
                  <a:moveTo>
                    <a:pt x="0" y="0"/>
                  </a:moveTo>
                  <a:lnTo>
                    <a:pt x="1967999" y="0"/>
                  </a:lnTo>
                  <a:lnTo>
                    <a:pt x="1967999" y="4192766"/>
                  </a:lnTo>
                  <a:lnTo>
                    <a:pt x="0" y="4192766"/>
                  </a:lnTo>
                  <a:close/>
                </a:path>
              </a:pathLst>
            </a:custGeom>
            <a:gradFill rotWithShape="true">
              <a:gsLst>
                <a:gs pos="0">
                  <a:srgbClr val="202020">
                    <a:alpha val="100000"/>
                  </a:srgbClr>
                </a:gs>
                <a:gs pos="100000">
                  <a:srgbClr val="20202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967999" cy="4164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486902">
            <a:off x="-1829401" y="-702210"/>
            <a:ext cx="9864950" cy="15683318"/>
            <a:chOff x="0" y="0"/>
            <a:chExt cx="2598176" cy="41305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98176" cy="4130586"/>
            </a:xfrm>
            <a:custGeom>
              <a:avLst/>
              <a:gdLst/>
              <a:ahLst/>
              <a:cxnLst/>
              <a:rect r="r" b="b" t="t" l="l"/>
              <a:pathLst>
                <a:path h="4130586" w="2598176">
                  <a:moveTo>
                    <a:pt x="0" y="0"/>
                  </a:moveTo>
                  <a:lnTo>
                    <a:pt x="2598176" y="0"/>
                  </a:lnTo>
                  <a:lnTo>
                    <a:pt x="2598176" y="4130586"/>
                  </a:lnTo>
                  <a:lnTo>
                    <a:pt x="0" y="4130586"/>
                  </a:lnTo>
                  <a:close/>
                </a:path>
              </a:pathLst>
            </a:custGeom>
            <a:solidFill>
              <a:srgbClr val="20202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598176" cy="4102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662105" y="6919889"/>
            <a:ext cx="11969595" cy="1673214"/>
            <a:chOff x="0" y="0"/>
            <a:chExt cx="3152486" cy="4406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52486" cy="440682"/>
            </a:xfrm>
            <a:custGeom>
              <a:avLst/>
              <a:gdLst/>
              <a:ahLst/>
              <a:cxnLst/>
              <a:rect r="r" b="b" t="t" l="l"/>
              <a:pathLst>
                <a:path h="440682" w="3152486">
                  <a:moveTo>
                    <a:pt x="0" y="0"/>
                  </a:moveTo>
                  <a:lnTo>
                    <a:pt x="3152486" y="0"/>
                  </a:lnTo>
                  <a:lnTo>
                    <a:pt x="3152486" y="440682"/>
                  </a:lnTo>
                  <a:lnTo>
                    <a:pt x="0" y="440682"/>
                  </a:lnTo>
                  <a:close/>
                </a:path>
              </a:pathLst>
            </a:custGeom>
            <a:gradFill rotWithShape="true">
              <a:gsLst>
                <a:gs pos="0">
                  <a:srgbClr val="8C7DF7">
                    <a:alpha val="100000"/>
                  </a:srgbClr>
                </a:gs>
                <a:gs pos="100000">
                  <a:srgbClr val="8A7EE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3152486" cy="412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5076825"/>
            <a:ext cx="11046569" cy="351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04"/>
              </a:lnSpc>
            </a:pPr>
            <a:r>
              <a:rPr lang="en-US" b="true" sz="11555" i="true">
                <a:solidFill>
                  <a:srgbClr val="4021FF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SEMINÁRIO</a:t>
            </a:r>
          </a:p>
          <a:p>
            <a:pPr algn="l">
              <a:lnSpc>
                <a:spcPts val="13404"/>
              </a:lnSpc>
            </a:pPr>
            <a:r>
              <a:rPr lang="en-US" sz="11555">
                <a:solidFill>
                  <a:srgbClr val="4021FF"/>
                </a:solidFill>
                <a:latin typeface="Poppins"/>
                <a:ea typeface="Poppins"/>
                <a:cs typeface="Poppins"/>
                <a:sym typeface="Poppins"/>
              </a:rPr>
              <a:t>MERGE SORT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6800" y="8712862"/>
            <a:ext cx="852642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 Luisa;</a:t>
            </a:r>
          </a:p>
          <a:p>
            <a:pPr algn="l">
              <a:lnSpc>
                <a:spcPts val="247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Cezar Eduardo;</a:t>
            </a:r>
          </a:p>
          <a:p>
            <a:pPr algn="l">
              <a:lnSpc>
                <a:spcPts val="2474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Giovanna Vandam.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548235"/>
            <a:ext cx="10477356" cy="4999164"/>
            <a:chOff x="0" y="0"/>
            <a:chExt cx="2759468" cy="1316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59468" cy="1316652"/>
            </a:xfrm>
            <a:custGeom>
              <a:avLst/>
              <a:gdLst/>
              <a:ahLst/>
              <a:cxnLst/>
              <a:rect r="r" b="b" t="t" l="l"/>
              <a:pathLst>
                <a:path h="1316652" w="2759468">
                  <a:moveTo>
                    <a:pt x="33990" y="0"/>
                  </a:moveTo>
                  <a:lnTo>
                    <a:pt x="2725478" y="0"/>
                  </a:lnTo>
                  <a:cubicBezTo>
                    <a:pt x="2744251" y="0"/>
                    <a:pt x="2759468" y="15218"/>
                    <a:pt x="2759468" y="33990"/>
                  </a:cubicBezTo>
                  <a:lnTo>
                    <a:pt x="2759468" y="1282662"/>
                  </a:lnTo>
                  <a:cubicBezTo>
                    <a:pt x="2759468" y="1291677"/>
                    <a:pt x="2755887" y="1300322"/>
                    <a:pt x="2749513" y="1306697"/>
                  </a:cubicBezTo>
                  <a:cubicBezTo>
                    <a:pt x="2743138" y="1313071"/>
                    <a:pt x="2734493" y="1316652"/>
                    <a:pt x="2725478" y="1316652"/>
                  </a:cubicBezTo>
                  <a:lnTo>
                    <a:pt x="33990" y="1316652"/>
                  </a:lnTo>
                  <a:cubicBezTo>
                    <a:pt x="15218" y="1316652"/>
                    <a:pt x="0" y="1301434"/>
                    <a:pt x="0" y="1282662"/>
                  </a:cubicBezTo>
                  <a:lnTo>
                    <a:pt x="0" y="33990"/>
                  </a:lnTo>
                  <a:cubicBezTo>
                    <a:pt x="0" y="15218"/>
                    <a:pt x="15218" y="0"/>
                    <a:pt x="33990" y="0"/>
                  </a:cubicBezTo>
                  <a:close/>
                </a:path>
              </a:pathLst>
            </a:custGeom>
            <a:ln w="19050" cap="rnd">
              <a:solidFill>
                <a:srgbClr val="8B7EF3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759468" cy="1288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74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Uma abordagem recursiva que quebra problemas complexos em partes menores, resolve cada uma e as combina de forma eficiente.</a:t>
              </a:r>
            </a:p>
            <a:p>
              <a:pPr algn="l">
                <a:lnSpc>
                  <a:spcPts val="2474"/>
                </a:lnSpc>
              </a:pPr>
            </a:p>
            <a:p>
              <a:pPr algn="l">
                <a:lnSpc>
                  <a:spcPts val="2474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 algoritmo encontra o ponto do meio e divide o array em 2 metades até sobrarem listas com 1 elemento cada.</a:t>
              </a:r>
            </a:p>
            <a:p>
              <a:pPr algn="l">
                <a:lnSpc>
                  <a:spcPts val="2474"/>
                </a:lnSpc>
              </a:pPr>
            </a:p>
            <a:p>
              <a:pPr algn="l">
                <a:lnSpc>
                  <a:spcPts val="2474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Ordena e combina (merge) essas listas aos pares.</a:t>
              </a:r>
            </a:p>
            <a:p>
              <a:pPr algn="l">
                <a:lnSpc>
                  <a:spcPts val="2474"/>
                </a:lnSpc>
              </a:pPr>
            </a:p>
            <a:p>
              <a:pPr algn="l">
                <a:lnSpc>
                  <a:spcPts val="2474"/>
                </a:lnSpc>
              </a:pP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Repete o processo de juntar até que toda a lista esteja organizada.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50659"/>
            <a:ext cx="14217318" cy="1876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5"/>
              </a:lnSpc>
            </a:pPr>
            <a:r>
              <a:rPr lang="en-US" b="true" sz="7500" i="true">
                <a:solidFill>
                  <a:srgbClr val="4021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 PARADIGMA DIVIDIR </a:t>
            </a:r>
          </a:p>
          <a:p>
            <a:pPr algn="l">
              <a:lnSpc>
                <a:spcPts val="6825"/>
              </a:lnSpc>
            </a:pPr>
            <a:r>
              <a:rPr lang="en-US" b="true" sz="7500" i="true">
                <a:solidFill>
                  <a:srgbClr val="4021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PARA CONQUISTAR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587" y="354031"/>
            <a:ext cx="17353691" cy="11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b="true" sz="9000" i="true">
                <a:solidFill>
                  <a:srgbClr val="4021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IMPLEMENTAÇÃO EM PYTHON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843627"/>
            <a:ext cx="8955091" cy="8014629"/>
            <a:chOff x="0" y="0"/>
            <a:chExt cx="893983" cy="8000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3983" cy="800097"/>
            </a:xfrm>
            <a:custGeom>
              <a:avLst/>
              <a:gdLst/>
              <a:ahLst/>
              <a:cxnLst/>
              <a:rect r="r" b="b" t="t" l="l"/>
              <a:pathLst>
                <a:path h="800097" w="893983">
                  <a:moveTo>
                    <a:pt x="0" y="0"/>
                  </a:moveTo>
                  <a:lnTo>
                    <a:pt x="893983" y="0"/>
                  </a:lnTo>
                  <a:lnTo>
                    <a:pt x="893983" y="800097"/>
                  </a:lnTo>
                  <a:lnTo>
                    <a:pt x="0" y="800097"/>
                  </a:lnTo>
                  <a:close/>
                </a:path>
              </a:pathLst>
            </a:custGeom>
            <a:blipFill>
              <a:blip r:embed="rId2"/>
              <a:stretch>
                <a:fillRect l="-923" t="0" r="-923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246013" y="2140197"/>
            <a:ext cx="260233" cy="260233"/>
          </a:xfrm>
          <a:custGeom>
            <a:avLst/>
            <a:gdLst/>
            <a:ahLst/>
            <a:cxnLst/>
            <a:rect r="r" b="b" t="t" l="l"/>
            <a:pathLst>
              <a:path h="260233" w="260233">
                <a:moveTo>
                  <a:pt x="0" y="0"/>
                </a:moveTo>
                <a:lnTo>
                  <a:pt x="260232" y="0"/>
                </a:lnTo>
                <a:lnTo>
                  <a:pt x="260232" y="260232"/>
                </a:lnTo>
                <a:lnTo>
                  <a:pt x="0" y="2602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70756" y="1902013"/>
            <a:ext cx="5099149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Encontra o ponto médio e divide o array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70756" y="2918023"/>
            <a:ext cx="555396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ordena recursivamente ambas as metades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115896" y="3135510"/>
            <a:ext cx="260233" cy="260233"/>
          </a:xfrm>
          <a:custGeom>
            <a:avLst/>
            <a:gdLst/>
            <a:ahLst/>
            <a:cxnLst/>
            <a:rect r="r" b="b" t="t" l="l"/>
            <a:pathLst>
              <a:path h="260233" w="260233">
                <a:moveTo>
                  <a:pt x="0" y="0"/>
                </a:moveTo>
                <a:lnTo>
                  <a:pt x="260233" y="0"/>
                </a:lnTo>
                <a:lnTo>
                  <a:pt x="260233" y="260233"/>
                </a:lnTo>
                <a:lnTo>
                  <a:pt x="0" y="2602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827176" y="3748227"/>
            <a:ext cx="9273629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ponteiros para metade_esquerda ⓘ, metade direita (j) e o array original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2618756">
            <a:off x="7738969" y="4711759"/>
            <a:ext cx="260233" cy="260233"/>
          </a:xfrm>
          <a:custGeom>
            <a:avLst/>
            <a:gdLst/>
            <a:ahLst/>
            <a:cxnLst/>
            <a:rect r="r" b="b" t="t" l="l"/>
            <a:pathLst>
              <a:path h="260233" w="260233">
                <a:moveTo>
                  <a:pt x="0" y="0"/>
                </a:moveTo>
                <a:lnTo>
                  <a:pt x="260233" y="0"/>
                </a:lnTo>
                <a:lnTo>
                  <a:pt x="260233" y="260233"/>
                </a:lnTo>
                <a:lnTo>
                  <a:pt x="0" y="2602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120330" y="4624388"/>
            <a:ext cx="947365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copia os dados para os array temporarios e os mescla de volta em ordem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2618756">
            <a:off x="8401584" y="3868746"/>
            <a:ext cx="260233" cy="260233"/>
          </a:xfrm>
          <a:custGeom>
            <a:avLst/>
            <a:gdLst/>
            <a:ahLst/>
            <a:cxnLst/>
            <a:rect r="r" b="b" t="t" l="l"/>
            <a:pathLst>
              <a:path h="260233" w="260233">
                <a:moveTo>
                  <a:pt x="0" y="0"/>
                </a:moveTo>
                <a:lnTo>
                  <a:pt x="260233" y="0"/>
                </a:lnTo>
                <a:lnTo>
                  <a:pt x="260233" y="260233"/>
                </a:lnTo>
                <a:lnTo>
                  <a:pt x="0" y="2602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780598" y="6502211"/>
            <a:ext cx="7189738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 se sobrou algum elemento na metade esquerda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2618756">
            <a:off x="6339181" y="6622731"/>
            <a:ext cx="260233" cy="260233"/>
          </a:xfrm>
          <a:custGeom>
            <a:avLst/>
            <a:gdLst/>
            <a:ahLst/>
            <a:cxnLst/>
            <a:rect r="r" b="b" t="t" l="l"/>
            <a:pathLst>
              <a:path h="260233" w="260233">
                <a:moveTo>
                  <a:pt x="0" y="0"/>
                </a:moveTo>
                <a:lnTo>
                  <a:pt x="260232" y="0"/>
                </a:lnTo>
                <a:lnTo>
                  <a:pt x="260232" y="260232"/>
                </a:lnTo>
                <a:lnTo>
                  <a:pt x="0" y="2602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653258" y="7735320"/>
            <a:ext cx="6782991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 se sobrou algum elemento na metade direita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2618756">
            <a:off x="6155220" y="7855840"/>
            <a:ext cx="260233" cy="260233"/>
          </a:xfrm>
          <a:custGeom>
            <a:avLst/>
            <a:gdLst/>
            <a:ahLst/>
            <a:cxnLst/>
            <a:rect r="r" b="b" t="t" l="l"/>
            <a:pathLst>
              <a:path h="260233" w="260233">
                <a:moveTo>
                  <a:pt x="0" y="0"/>
                </a:moveTo>
                <a:lnTo>
                  <a:pt x="260233" y="0"/>
                </a:lnTo>
                <a:lnTo>
                  <a:pt x="260233" y="260233"/>
                </a:lnTo>
                <a:lnTo>
                  <a:pt x="0" y="2602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51858" y="1183626"/>
            <a:ext cx="6384283" cy="781052"/>
            <a:chOff x="0" y="0"/>
            <a:chExt cx="1681457" cy="2057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1457" cy="205709"/>
            </a:xfrm>
            <a:custGeom>
              <a:avLst/>
              <a:gdLst/>
              <a:ahLst/>
              <a:cxnLst/>
              <a:rect r="r" b="b" t="t" l="l"/>
              <a:pathLst>
                <a:path h="205709" w="1681457">
                  <a:moveTo>
                    <a:pt x="0" y="0"/>
                  </a:moveTo>
                  <a:lnTo>
                    <a:pt x="1681457" y="0"/>
                  </a:lnTo>
                  <a:lnTo>
                    <a:pt x="1681457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4021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681457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8829" y="2500604"/>
            <a:ext cx="6384283" cy="781052"/>
            <a:chOff x="0" y="0"/>
            <a:chExt cx="1681457" cy="2057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81457" cy="205709"/>
            </a:xfrm>
            <a:custGeom>
              <a:avLst/>
              <a:gdLst/>
              <a:ahLst/>
              <a:cxnLst/>
              <a:rect r="r" b="b" t="t" l="l"/>
              <a:pathLst>
                <a:path h="205709" w="1681457">
                  <a:moveTo>
                    <a:pt x="0" y="0"/>
                  </a:moveTo>
                  <a:lnTo>
                    <a:pt x="1681457" y="0"/>
                  </a:lnTo>
                  <a:lnTo>
                    <a:pt x="1681457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1681457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99089" y="2500604"/>
            <a:ext cx="6384283" cy="781052"/>
            <a:chOff x="0" y="0"/>
            <a:chExt cx="1681457" cy="2057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1457" cy="205709"/>
            </a:xfrm>
            <a:custGeom>
              <a:avLst/>
              <a:gdLst/>
              <a:ahLst/>
              <a:cxnLst/>
              <a:rect r="r" b="b" t="t" l="l"/>
              <a:pathLst>
                <a:path h="205709" w="1681457">
                  <a:moveTo>
                    <a:pt x="0" y="0"/>
                  </a:moveTo>
                  <a:lnTo>
                    <a:pt x="1681457" y="0"/>
                  </a:lnTo>
                  <a:lnTo>
                    <a:pt x="1681457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1681457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58829" y="3729331"/>
            <a:ext cx="2586941" cy="781052"/>
            <a:chOff x="0" y="0"/>
            <a:chExt cx="681334" cy="2057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1334" cy="205709"/>
            </a:xfrm>
            <a:custGeom>
              <a:avLst/>
              <a:gdLst/>
              <a:ahLst/>
              <a:cxnLst/>
              <a:rect r="r" b="b" t="t" l="l"/>
              <a:pathLst>
                <a:path h="205709" w="681334">
                  <a:moveTo>
                    <a:pt x="0" y="0"/>
                  </a:moveTo>
                  <a:lnTo>
                    <a:pt x="681334" y="0"/>
                  </a:lnTo>
                  <a:lnTo>
                    <a:pt x="681334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681334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56171" y="3729331"/>
            <a:ext cx="2586941" cy="781052"/>
            <a:chOff x="0" y="0"/>
            <a:chExt cx="681334" cy="2057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1334" cy="205709"/>
            </a:xfrm>
            <a:custGeom>
              <a:avLst/>
              <a:gdLst/>
              <a:ahLst/>
              <a:cxnLst/>
              <a:rect r="r" b="b" t="t" l="l"/>
              <a:pathLst>
                <a:path h="205709" w="681334">
                  <a:moveTo>
                    <a:pt x="0" y="0"/>
                  </a:moveTo>
                  <a:lnTo>
                    <a:pt x="681334" y="0"/>
                  </a:lnTo>
                  <a:lnTo>
                    <a:pt x="681334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681334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99089" y="3729331"/>
            <a:ext cx="2586941" cy="781052"/>
            <a:chOff x="0" y="0"/>
            <a:chExt cx="681334" cy="2057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1334" cy="205709"/>
            </a:xfrm>
            <a:custGeom>
              <a:avLst/>
              <a:gdLst/>
              <a:ahLst/>
              <a:cxnLst/>
              <a:rect r="r" b="b" t="t" l="l"/>
              <a:pathLst>
                <a:path h="205709" w="681334">
                  <a:moveTo>
                    <a:pt x="0" y="0"/>
                  </a:moveTo>
                  <a:lnTo>
                    <a:pt x="681334" y="0"/>
                  </a:lnTo>
                  <a:lnTo>
                    <a:pt x="681334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681334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095705" y="3729331"/>
            <a:ext cx="2586941" cy="781052"/>
            <a:chOff x="0" y="0"/>
            <a:chExt cx="681334" cy="2057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1334" cy="205709"/>
            </a:xfrm>
            <a:custGeom>
              <a:avLst/>
              <a:gdLst/>
              <a:ahLst/>
              <a:cxnLst/>
              <a:rect r="r" b="b" t="t" l="l"/>
              <a:pathLst>
                <a:path h="205709" w="681334">
                  <a:moveTo>
                    <a:pt x="0" y="0"/>
                  </a:moveTo>
                  <a:lnTo>
                    <a:pt x="681334" y="0"/>
                  </a:lnTo>
                  <a:lnTo>
                    <a:pt x="681334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681334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78575" y="4958058"/>
            <a:ext cx="1020062" cy="781052"/>
            <a:chOff x="0" y="0"/>
            <a:chExt cx="268658" cy="20570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658" cy="205709"/>
            </a:xfrm>
            <a:custGeom>
              <a:avLst/>
              <a:gdLst/>
              <a:ahLst/>
              <a:cxnLst/>
              <a:rect r="r" b="b" t="t" l="l"/>
              <a:pathLst>
                <a:path h="205709" w="268658">
                  <a:moveTo>
                    <a:pt x="0" y="0"/>
                  </a:moveTo>
                  <a:lnTo>
                    <a:pt x="268658" y="0"/>
                  </a:lnTo>
                  <a:lnTo>
                    <a:pt x="268658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268658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325708" y="4958058"/>
            <a:ext cx="1020062" cy="781052"/>
            <a:chOff x="0" y="0"/>
            <a:chExt cx="268658" cy="2057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8658" cy="205709"/>
            </a:xfrm>
            <a:custGeom>
              <a:avLst/>
              <a:gdLst/>
              <a:ahLst/>
              <a:cxnLst/>
              <a:rect r="r" b="b" t="t" l="l"/>
              <a:pathLst>
                <a:path h="205709" w="268658">
                  <a:moveTo>
                    <a:pt x="0" y="0"/>
                  </a:moveTo>
                  <a:lnTo>
                    <a:pt x="268658" y="0"/>
                  </a:lnTo>
                  <a:lnTo>
                    <a:pt x="268658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28575"/>
              <a:ext cx="268658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23050" y="4958058"/>
            <a:ext cx="1020062" cy="781052"/>
            <a:chOff x="0" y="0"/>
            <a:chExt cx="268658" cy="2057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8658" cy="205709"/>
            </a:xfrm>
            <a:custGeom>
              <a:avLst/>
              <a:gdLst/>
              <a:ahLst/>
              <a:cxnLst/>
              <a:rect r="r" b="b" t="t" l="l"/>
              <a:pathLst>
                <a:path h="205709" w="268658">
                  <a:moveTo>
                    <a:pt x="0" y="0"/>
                  </a:moveTo>
                  <a:lnTo>
                    <a:pt x="268658" y="0"/>
                  </a:lnTo>
                  <a:lnTo>
                    <a:pt x="268658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28575"/>
              <a:ext cx="268658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556171" y="4958058"/>
            <a:ext cx="1020062" cy="781052"/>
            <a:chOff x="0" y="0"/>
            <a:chExt cx="268658" cy="2057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8658" cy="205709"/>
            </a:xfrm>
            <a:custGeom>
              <a:avLst/>
              <a:gdLst/>
              <a:ahLst/>
              <a:cxnLst/>
              <a:rect r="r" b="b" t="t" l="l"/>
              <a:pathLst>
                <a:path h="205709" w="268658">
                  <a:moveTo>
                    <a:pt x="0" y="0"/>
                  </a:moveTo>
                  <a:lnTo>
                    <a:pt x="268658" y="0"/>
                  </a:lnTo>
                  <a:lnTo>
                    <a:pt x="268658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28575"/>
              <a:ext cx="268658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78575" y="6186784"/>
            <a:ext cx="2586941" cy="781052"/>
            <a:chOff x="0" y="0"/>
            <a:chExt cx="681334" cy="20570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1334" cy="205709"/>
            </a:xfrm>
            <a:custGeom>
              <a:avLst/>
              <a:gdLst/>
              <a:ahLst/>
              <a:cxnLst/>
              <a:rect r="r" b="b" t="t" l="l"/>
              <a:pathLst>
                <a:path h="205709" w="681334">
                  <a:moveTo>
                    <a:pt x="0" y="0"/>
                  </a:moveTo>
                  <a:lnTo>
                    <a:pt x="681334" y="0"/>
                  </a:lnTo>
                  <a:lnTo>
                    <a:pt x="681334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28575"/>
              <a:ext cx="681334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052299" y="7320439"/>
            <a:ext cx="4070751" cy="781052"/>
            <a:chOff x="0" y="0"/>
            <a:chExt cx="1072132" cy="20570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2132" cy="205709"/>
            </a:xfrm>
            <a:custGeom>
              <a:avLst/>
              <a:gdLst/>
              <a:ahLst/>
              <a:cxnLst/>
              <a:rect r="r" b="b" t="t" l="l"/>
              <a:pathLst>
                <a:path h="205709" w="1072132">
                  <a:moveTo>
                    <a:pt x="0" y="0"/>
                  </a:moveTo>
                  <a:lnTo>
                    <a:pt x="1072132" y="0"/>
                  </a:lnTo>
                  <a:lnTo>
                    <a:pt x="1072132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28575"/>
              <a:ext cx="1072132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556171" y="6139248"/>
            <a:ext cx="2586941" cy="781052"/>
            <a:chOff x="0" y="0"/>
            <a:chExt cx="681334" cy="20570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1334" cy="205709"/>
            </a:xfrm>
            <a:custGeom>
              <a:avLst/>
              <a:gdLst/>
              <a:ahLst/>
              <a:cxnLst/>
              <a:rect r="r" b="b" t="t" l="l"/>
              <a:pathLst>
                <a:path h="205709" w="681334">
                  <a:moveTo>
                    <a:pt x="0" y="0"/>
                  </a:moveTo>
                  <a:lnTo>
                    <a:pt x="681334" y="0"/>
                  </a:lnTo>
                  <a:lnTo>
                    <a:pt x="681334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28575"/>
              <a:ext cx="681334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76233" y="8477248"/>
            <a:ext cx="6384283" cy="781052"/>
            <a:chOff x="0" y="0"/>
            <a:chExt cx="1681457" cy="20570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81457" cy="205709"/>
            </a:xfrm>
            <a:custGeom>
              <a:avLst/>
              <a:gdLst/>
              <a:ahLst/>
              <a:cxnLst/>
              <a:rect r="r" b="b" t="t" l="l"/>
              <a:pathLst>
                <a:path h="205709" w="1681457">
                  <a:moveTo>
                    <a:pt x="0" y="0"/>
                  </a:moveTo>
                  <a:lnTo>
                    <a:pt x="1681457" y="0"/>
                  </a:lnTo>
                  <a:lnTo>
                    <a:pt x="1681457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4021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28575"/>
              <a:ext cx="1681457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99089" y="6186784"/>
            <a:ext cx="2586941" cy="781052"/>
            <a:chOff x="0" y="0"/>
            <a:chExt cx="681334" cy="20570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1334" cy="205709"/>
            </a:xfrm>
            <a:custGeom>
              <a:avLst/>
              <a:gdLst/>
              <a:ahLst/>
              <a:cxnLst/>
              <a:rect r="r" b="b" t="t" l="l"/>
              <a:pathLst>
                <a:path h="205709" w="681334">
                  <a:moveTo>
                    <a:pt x="0" y="0"/>
                  </a:moveTo>
                  <a:lnTo>
                    <a:pt x="681334" y="0"/>
                  </a:lnTo>
                  <a:lnTo>
                    <a:pt x="681334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28575"/>
              <a:ext cx="681334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612622" y="7415511"/>
            <a:ext cx="4070751" cy="781052"/>
            <a:chOff x="0" y="0"/>
            <a:chExt cx="1072132" cy="20570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2132" cy="205709"/>
            </a:xfrm>
            <a:custGeom>
              <a:avLst/>
              <a:gdLst/>
              <a:ahLst/>
              <a:cxnLst/>
              <a:rect r="r" b="b" t="t" l="l"/>
              <a:pathLst>
                <a:path h="205709" w="1072132">
                  <a:moveTo>
                    <a:pt x="0" y="0"/>
                  </a:moveTo>
                  <a:lnTo>
                    <a:pt x="1072132" y="0"/>
                  </a:lnTo>
                  <a:lnTo>
                    <a:pt x="1072132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28575"/>
              <a:ext cx="1072132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926076" y="4939008"/>
            <a:ext cx="1020062" cy="781052"/>
            <a:chOff x="0" y="0"/>
            <a:chExt cx="268658" cy="20570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8658" cy="205709"/>
            </a:xfrm>
            <a:custGeom>
              <a:avLst/>
              <a:gdLst/>
              <a:ahLst/>
              <a:cxnLst/>
              <a:rect r="r" b="b" t="t" l="l"/>
              <a:pathLst>
                <a:path h="205709" w="268658">
                  <a:moveTo>
                    <a:pt x="0" y="0"/>
                  </a:moveTo>
                  <a:lnTo>
                    <a:pt x="268658" y="0"/>
                  </a:lnTo>
                  <a:lnTo>
                    <a:pt x="268658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28575"/>
              <a:ext cx="268658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359197" y="4939008"/>
            <a:ext cx="1020062" cy="781052"/>
            <a:chOff x="0" y="0"/>
            <a:chExt cx="268658" cy="20570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8658" cy="205709"/>
            </a:xfrm>
            <a:custGeom>
              <a:avLst/>
              <a:gdLst/>
              <a:ahLst/>
              <a:cxnLst/>
              <a:rect r="r" b="b" t="t" l="l"/>
              <a:pathLst>
                <a:path h="205709" w="268658">
                  <a:moveTo>
                    <a:pt x="0" y="0"/>
                  </a:moveTo>
                  <a:lnTo>
                    <a:pt x="268658" y="0"/>
                  </a:lnTo>
                  <a:lnTo>
                    <a:pt x="268658" y="205709"/>
                  </a:lnTo>
                  <a:lnTo>
                    <a:pt x="0" y="205709"/>
                  </a:lnTo>
                  <a:close/>
                </a:path>
              </a:pathLst>
            </a:custGeom>
            <a:solidFill>
              <a:srgbClr val="8B7EF3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28575"/>
              <a:ext cx="268658" cy="177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1607234">
            <a:off x="8967656" y="2143407"/>
            <a:ext cx="1384325" cy="361655"/>
          </a:xfrm>
          <a:custGeom>
            <a:avLst/>
            <a:gdLst/>
            <a:ahLst/>
            <a:cxnLst/>
            <a:rect r="r" b="b" t="t" l="l"/>
            <a:pathLst>
              <a:path h="361655" w="1384325">
                <a:moveTo>
                  <a:pt x="0" y="0"/>
                </a:moveTo>
                <a:lnTo>
                  <a:pt x="1384325" y="0"/>
                </a:lnTo>
                <a:lnTo>
                  <a:pt x="1384325" y="361654"/>
                </a:lnTo>
                <a:lnTo>
                  <a:pt x="0" y="361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891996" y="413214"/>
            <a:ext cx="6616450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b="true" sz="5499" i="true">
                <a:solidFill>
                  <a:srgbClr val="4021FF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EXEMPLO PRATICO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274944" y="1116951"/>
            <a:ext cx="5738112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2651743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081914" y="2400592"/>
            <a:ext cx="5738112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2651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622175" y="2405354"/>
            <a:ext cx="5738112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743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081914" y="3629318"/>
            <a:ext cx="1831954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26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933664" y="3605506"/>
            <a:ext cx="1831954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04627" y="4858045"/>
            <a:ext cx="1313216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179131" y="4858045"/>
            <a:ext cx="1313216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136322" y="6091534"/>
            <a:ext cx="1831954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26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933664" y="6062959"/>
            <a:ext cx="1831954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409594" y="4891383"/>
            <a:ext cx="1313216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976473" y="4891383"/>
            <a:ext cx="1313216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288605" y="7215486"/>
            <a:ext cx="5738112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1256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719927" y="3662656"/>
            <a:ext cx="3865480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74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212620" y="4872333"/>
            <a:ext cx="1313216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779499" y="4872333"/>
            <a:ext cx="1313216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676583" y="6091623"/>
            <a:ext cx="1831954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47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150332" y="7315498"/>
            <a:ext cx="2995330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347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732568" y="3605506"/>
            <a:ext cx="1313216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899318" y="8429623"/>
            <a:ext cx="5738112" cy="82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4"/>
              </a:lnSpc>
            </a:pPr>
            <a:r>
              <a:rPr lang="en-US" sz="4499" spc="3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1234567</a:t>
            </a:r>
          </a:p>
        </p:txBody>
      </p:sp>
      <p:sp>
        <p:nvSpPr>
          <p:cNvPr name="Freeform 80" id="80"/>
          <p:cNvSpPr/>
          <p:nvPr/>
        </p:nvSpPr>
        <p:spPr>
          <a:xfrm flipH="true" flipV="false" rot="-2395346">
            <a:off x="8065786" y="2197330"/>
            <a:ext cx="1076445" cy="281221"/>
          </a:xfrm>
          <a:custGeom>
            <a:avLst/>
            <a:gdLst/>
            <a:ahLst/>
            <a:cxnLst/>
            <a:rect r="r" b="b" t="t" l="l"/>
            <a:pathLst>
              <a:path h="281221" w="1076445">
                <a:moveTo>
                  <a:pt x="1076446" y="0"/>
                </a:moveTo>
                <a:lnTo>
                  <a:pt x="0" y="0"/>
                </a:lnTo>
                <a:lnTo>
                  <a:pt x="0" y="281222"/>
                </a:lnTo>
                <a:lnTo>
                  <a:pt x="1076446" y="281222"/>
                </a:lnTo>
                <a:lnTo>
                  <a:pt x="10764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1607234">
            <a:off x="4844383" y="3396803"/>
            <a:ext cx="900708" cy="235310"/>
          </a:xfrm>
          <a:custGeom>
            <a:avLst/>
            <a:gdLst/>
            <a:ahLst/>
            <a:cxnLst/>
            <a:rect r="r" b="b" t="t" l="l"/>
            <a:pathLst>
              <a:path h="235310" w="900708">
                <a:moveTo>
                  <a:pt x="0" y="0"/>
                </a:moveTo>
                <a:lnTo>
                  <a:pt x="900708" y="0"/>
                </a:lnTo>
                <a:lnTo>
                  <a:pt x="900708" y="235310"/>
                </a:lnTo>
                <a:lnTo>
                  <a:pt x="0" y="23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true" flipV="false" rot="-2395346">
            <a:off x="4257583" y="3431889"/>
            <a:ext cx="700387" cy="182976"/>
          </a:xfrm>
          <a:custGeom>
            <a:avLst/>
            <a:gdLst/>
            <a:ahLst/>
            <a:cxnLst/>
            <a:rect r="r" b="b" t="t" l="l"/>
            <a:pathLst>
              <a:path h="182976" w="700387">
                <a:moveTo>
                  <a:pt x="700387" y="0"/>
                </a:moveTo>
                <a:lnTo>
                  <a:pt x="0" y="0"/>
                </a:lnTo>
                <a:lnTo>
                  <a:pt x="0" y="182976"/>
                </a:lnTo>
                <a:lnTo>
                  <a:pt x="700387" y="182976"/>
                </a:lnTo>
                <a:lnTo>
                  <a:pt x="70038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1607234">
            <a:off x="13414649" y="3405722"/>
            <a:ext cx="900708" cy="235310"/>
          </a:xfrm>
          <a:custGeom>
            <a:avLst/>
            <a:gdLst/>
            <a:ahLst/>
            <a:cxnLst/>
            <a:rect r="r" b="b" t="t" l="l"/>
            <a:pathLst>
              <a:path h="235310" w="900708">
                <a:moveTo>
                  <a:pt x="0" y="0"/>
                </a:moveTo>
                <a:lnTo>
                  <a:pt x="900708" y="0"/>
                </a:lnTo>
                <a:lnTo>
                  <a:pt x="900708" y="235310"/>
                </a:lnTo>
                <a:lnTo>
                  <a:pt x="0" y="23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true" flipV="false" rot="-2395346">
            <a:off x="12827850" y="3440807"/>
            <a:ext cx="700387" cy="182976"/>
          </a:xfrm>
          <a:custGeom>
            <a:avLst/>
            <a:gdLst/>
            <a:ahLst/>
            <a:cxnLst/>
            <a:rect r="r" b="b" t="t" l="l"/>
            <a:pathLst>
              <a:path h="182976" w="700387">
                <a:moveTo>
                  <a:pt x="700387" y="0"/>
                </a:moveTo>
                <a:lnTo>
                  <a:pt x="0" y="0"/>
                </a:lnTo>
                <a:lnTo>
                  <a:pt x="0" y="182976"/>
                </a:lnTo>
                <a:lnTo>
                  <a:pt x="700387" y="182976"/>
                </a:lnTo>
                <a:lnTo>
                  <a:pt x="70038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1607234">
            <a:off x="2968767" y="4600458"/>
            <a:ext cx="758130" cy="198062"/>
          </a:xfrm>
          <a:custGeom>
            <a:avLst/>
            <a:gdLst/>
            <a:ahLst/>
            <a:cxnLst/>
            <a:rect r="r" b="b" t="t" l="l"/>
            <a:pathLst>
              <a:path h="198062" w="758130">
                <a:moveTo>
                  <a:pt x="0" y="0"/>
                </a:moveTo>
                <a:lnTo>
                  <a:pt x="758130" y="0"/>
                </a:lnTo>
                <a:lnTo>
                  <a:pt x="758130" y="198061"/>
                </a:lnTo>
                <a:lnTo>
                  <a:pt x="0" y="198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true" flipV="false" rot="-2395346">
            <a:off x="2390653" y="4629537"/>
            <a:ext cx="690454" cy="180381"/>
          </a:xfrm>
          <a:custGeom>
            <a:avLst/>
            <a:gdLst/>
            <a:ahLst/>
            <a:cxnLst/>
            <a:rect r="r" b="b" t="t" l="l"/>
            <a:pathLst>
              <a:path h="180381" w="690454">
                <a:moveTo>
                  <a:pt x="690454" y="0"/>
                </a:moveTo>
                <a:lnTo>
                  <a:pt x="0" y="0"/>
                </a:lnTo>
                <a:lnTo>
                  <a:pt x="0" y="180381"/>
                </a:lnTo>
                <a:lnTo>
                  <a:pt x="690454" y="180381"/>
                </a:lnTo>
                <a:lnTo>
                  <a:pt x="6904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1607234">
            <a:off x="6873194" y="4619713"/>
            <a:ext cx="758130" cy="198062"/>
          </a:xfrm>
          <a:custGeom>
            <a:avLst/>
            <a:gdLst/>
            <a:ahLst/>
            <a:cxnLst/>
            <a:rect r="r" b="b" t="t" l="l"/>
            <a:pathLst>
              <a:path h="198062" w="758130">
                <a:moveTo>
                  <a:pt x="0" y="0"/>
                </a:moveTo>
                <a:lnTo>
                  <a:pt x="758131" y="0"/>
                </a:lnTo>
                <a:lnTo>
                  <a:pt x="758131" y="198062"/>
                </a:lnTo>
                <a:lnTo>
                  <a:pt x="0" y="19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true" flipV="false" rot="-2395346">
            <a:off x="6295081" y="4648792"/>
            <a:ext cx="690454" cy="180381"/>
          </a:xfrm>
          <a:custGeom>
            <a:avLst/>
            <a:gdLst/>
            <a:ahLst/>
            <a:cxnLst/>
            <a:rect r="r" b="b" t="t" l="l"/>
            <a:pathLst>
              <a:path h="180381" w="690454">
                <a:moveTo>
                  <a:pt x="690454" y="0"/>
                </a:moveTo>
                <a:lnTo>
                  <a:pt x="0" y="0"/>
                </a:lnTo>
                <a:lnTo>
                  <a:pt x="0" y="180381"/>
                </a:lnTo>
                <a:lnTo>
                  <a:pt x="690454" y="180381"/>
                </a:lnTo>
                <a:lnTo>
                  <a:pt x="6904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1607234">
            <a:off x="11575187" y="4599474"/>
            <a:ext cx="758130" cy="198062"/>
          </a:xfrm>
          <a:custGeom>
            <a:avLst/>
            <a:gdLst/>
            <a:ahLst/>
            <a:cxnLst/>
            <a:rect r="r" b="b" t="t" l="l"/>
            <a:pathLst>
              <a:path h="198062" w="758130">
                <a:moveTo>
                  <a:pt x="0" y="0"/>
                </a:moveTo>
                <a:lnTo>
                  <a:pt x="758131" y="0"/>
                </a:lnTo>
                <a:lnTo>
                  <a:pt x="758131" y="198062"/>
                </a:lnTo>
                <a:lnTo>
                  <a:pt x="0" y="19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true" flipV="false" rot="-2395346">
            <a:off x="10997074" y="4628553"/>
            <a:ext cx="690454" cy="180381"/>
          </a:xfrm>
          <a:custGeom>
            <a:avLst/>
            <a:gdLst/>
            <a:ahLst/>
            <a:cxnLst/>
            <a:rect r="r" b="b" t="t" l="l"/>
            <a:pathLst>
              <a:path h="180381" w="690454">
                <a:moveTo>
                  <a:pt x="690454" y="0"/>
                </a:moveTo>
                <a:lnTo>
                  <a:pt x="0" y="0"/>
                </a:lnTo>
                <a:lnTo>
                  <a:pt x="0" y="180381"/>
                </a:lnTo>
                <a:lnTo>
                  <a:pt x="690454" y="180381"/>
                </a:lnTo>
                <a:lnTo>
                  <a:pt x="6904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1607234">
            <a:off x="2968767" y="5776797"/>
            <a:ext cx="758130" cy="198062"/>
          </a:xfrm>
          <a:custGeom>
            <a:avLst/>
            <a:gdLst/>
            <a:ahLst/>
            <a:cxnLst/>
            <a:rect r="r" b="b" t="t" l="l"/>
            <a:pathLst>
              <a:path h="198062" w="758130">
                <a:moveTo>
                  <a:pt x="0" y="0"/>
                </a:moveTo>
                <a:lnTo>
                  <a:pt x="758130" y="0"/>
                </a:lnTo>
                <a:lnTo>
                  <a:pt x="758130" y="198061"/>
                </a:lnTo>
                <a:lnTo>
                  <a:pt x="0" y="198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true" flipV="false" rot="-2395346">
            <a:off x="2390653" y="5805876"/>
            <a:ext cx="690454" cy="180381"/>
          </a:xfrm>
          <a:custGeom>
            <a:avLst/>
            <a:gdLst/>
            <a:ahLst/>
            <a:cxnLst/>
            <a:rect r="r" b="b" t="t" l="l"/>
            <a:pathLst>
              <a:path h="180381" w="690454">
                <a:moveTo>
                  <a:pt x="690454" y="0"/>
                </a:moveTo>
                <a:lnTo>
                  <a:pt x="0" y="0"/>
                </a:lnTo>
                <a:lnTo>
                  <a:pt x="0" y="180381"/>
                </a:lnTo>
                <a:lnTo>
                  <a:pt x="690454" y="180381"/>
                </a:lnTo>
                <a:lnTo>
                  <a:pt x="6904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1607234">
            <a:off x="6746363" y="5810749"/>
            <a:ext cx="758130" cy="198062"/>
          </a:xfrm>
          <a:custGeom>
            <a:avLst/>
            <a:gdLst/>
            <a:ahLst/>
            <a:cxnLst/>
            <a:rect r="r" b="b" t="t" l="l"/>
            <a:pathLst>
              <a:path h="198062" w="758130">
                <a:moveTo>
                  <a:pt x="0" y="0"/>
                </a:moveTo>
                <a:lnTo>
                  <a:pt x="758130" y="0"/>
                </a:lnTo>
                <a:lnTo>
                  <a:pt x="758130" y="198061"/>
                </a:lnTo>
                <a:lnTo>
                  <a:pt x="0" y="198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true" flipV="false" rot="-2395346">
            <a:off x="6168250" y="5839828"/>
            <a:ext cx="690454" cy="180381"/>
          </a:xfrm>
          <a:custGeom>
            <a:avLst/>
            <a:gdLst/>
            <a:ahLst/>
            <a:cxnLst/>
            <a:rect r="r" b="b" t="t" l="l"/>
            <a:pathLst>
              <a:path h="180381" w="690454">
                <a:moveTo>
                  <a:pt x="690453" y="0"/>
                </a:moveTo>
                <a:lnTo>
                  <a:pt x="0" y="0"/>
                </a:lnTo>
                <a:lnTo>
                  <a:pt x="0" y="180381"/>
                </a:lnTo>
                <a:lnTo>
                  <a:pt x="690453" y="180381"/>
                </a:lnTo>
                <a:lnTo>
                  <a:pt x="6904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1607234">
            <a:off x="11626515" y="5821988"/>
            <a:ext cx="758130" cy="198062"/>
          </a:xfrm>
          <a:custGeom>
            <a:avLst/>
            <a:gdLst/>
            <a:ahLst/>
            <a:cxnLst/>
            <a:rect r="r" b="b" t="t" l="l"/>
            <a:pathLst>
              <a:path h="198062" w="758130">
                <a:moveTo>
                  <a:pt x="0" y="0"/>
                </a:moveTo>
                <a:lnTo>
                  <a:pt x="758130" y="0"/>
                </a:lnTo>
                <a:lnTo>
                  <a:pt x="758130" y="198061"/>
                </a:lnTo>
                <a:lnTo>
                  <a:pt x="0" y="198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true" flipV="false" rot="-2395346">
            <a:off x="11048401" y="5851067"/>
            <a:ext cx="690454" cy="180381"/>
          </a:xfrm>
          <a:custGeom>
            <a:avLst/>
            <a:gdLst/>
            <a:ahLst/>
            <a:cxnLst/>
            <a:rect r="r" b="b" t="t" l="l"/>
            <a:pathLst>
              <a:path h="180381" w="690454">
                <a:moveTo>
                  <a:pt x="690454" y="0"/>
                </a:moveTo>
                <a:lnTo>
                  <a:pt x="0" y="0"/>
                </a:lnTo>
                <a:lnTo>
                  <a:pt x="0" y="180381"/>
                </a:lnTo>
                <a:lnTo>
                  <a:pt x="690454" y="180381"/>
                </a:lnTo>
                <a:lnTo>
                  <a:pt x="6904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6954554">
            <a:off x="13428074" y="5531327"/>
            <a:ext cx="3038022" cy="793683"/>
          </a:xfrm>
          <a:custGeom>
            <a:avLst/>
            <a:gdLst/>
            <a:ahLst/>
            <a:cxnLst/>
            <a:rect r="r" b="b" t="t" l="l"/>
            <a:pathLst>
              <a:path h="793683" w="3038022">
                <a:moveTo>
                  <a:pt x="0" y="0"/>
                </a:moveTo>
                <a:lnTo>
                  <a:pt x="3038023" y="0"/>
                </a:lnTo>
                <a:lnTo>
                  <a:pt x="3038023" y="793683"/>
                </a:lnTo>
                <a:lnTo>
                  <a:pt x="0" y="793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true" flipV="true" rot="-8348281">
            <a:off x="11625754" y="7159494"/>
            <a:ext cx="1076654" cy="281276"/>
          </a:xfrm>
          <a:custGeom>
            <a:avLst/>
            <a:gdLst/>
            <a:ahLst/>
            <a:cxnLst/>
            <a:rect r="r" b="b" t="t" l="l"/>
            <a:pathLst>
              <a:path h="281276" w="1076654">
                <a:moveTo>
                  <a:pt x="1076654" y="281276"/>
                </a:moveTo>
                <a:lnTo>
                  <a:pt x="0" y="281276"/>
                </a:lnTo>
                <a:lnTo>
                  <a:pt x="0" y="0"/>
                </a:lnTo>
                <a:lnTo>
                  <a:pt x="1076654" y="0"/>
                </a:lnTo>
                <a:lnTo>
                  <a:pt x="1076654" y="2812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true" rot="7496603">
            <a:off x="4959240" y="6766232"/>
            <a:ext cx="900708" cy="235310"/>
          </a:xfrm>
          <a:custGeom>
            <a:avLst/>
            <a:gdLst/>
            <a:ahLst/>
            <a:cxnLst/>
            <a:rect r="r" b="b" t="t" l="l"/>
            <a:pathLst>
              <a:path h="235310" w="900708">
                <a:moveTo>
                  <a:pt x="0" y="235310"/>
                </a:moveTo>
                <a:lnTo>
                  <a:pt x="900708" y="235310"/>
                </a:lnTo>
                <a:lnTo>
                  <a:pt x="900708" y="0"/>
                </a:lnTo>
                <a:lnTo>
                  <a:pt x="0" y="0"/>
                </a:lnTo>
                <a:lnTo>
                  <a:pt x="0" y="23531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true" flipV="true" rot="-9048360">
            <a:off x="4177542" y="6885104"/>
            <a:ext cx="909950" cy="237724"/>
          </a:xfrm>
          <a:custGeom>
            <a:avLst/>
            <a:gdLst/>
            <a:ahLst/>
            <a:cxnLst/>
            <a:rect r="r" b="b" t="t" l="l"/>
            <a:pathLst>
              <a:path h="237724" w="909950">
                <a:moveTo>
                  <a:pt x="909949" y="237725"/>
                </a:moveTo>
                <a:lnTo>
                  <a:pt x="0" y="237725"/>
                </a:lnTo>
                <a:lnTo>
                  <a:pt x="0" y="0"/>
                </a:lnTo>
                <a:lnTo>
                  <a:pt x="909949" y="0"/>
                </a:lnTo>
                <a:lnTo>
                  <a:pt x="909949" y="23772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true" flipV="true" rot="-9048360">
            <a:off x="7053536" y="7991875"/>
            <a:ext cx="1235904" cy="322880"/>
          </a:xfrm>
          <a:custGeom>
            <a:avLst/>
            <a:gdLst/>
            <a:ahLst/>
            <a:cxnLst/>
            <a:rect r="r" b="b" t="t" l="l"/>
            <a:pathLst>
              <a:path h="322880" w="1235904">
                <a:moveTo>
                  <a:pt x="1235904" y="322880"/>
                </a:moveTo>
                <a:lnTo>
                  <a:pt x="0" y="322880"/>
                </a:lnTo>
                <a:lnTo>
                  <a:pt x="0" y="0"/>
                </a:lnTo>
                <a:lnTo>
                  <a:pt x="1235904" y="0"/>
                </a:lnTo>
                <a:lnTo>
                  <a:pt x="1235904" y="32288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true" flipV="true" rot="-849752">
            <a:off x="11048872" y="7912280"/>
            <a:ext cx="1742522" cy="455234"/>
          </a:xfrm>
          <a:custGeom>
            <a:avLst/>
            <a:gdLst/>
            <a:ahLst/>
            <a:cxnLst/>
            <a:rect r="r" b="b" t="t" l="l"/>
            <a:pathLst>
              <a:path h="455234" w="1742522">
                <a:moveTo>
                  <a:pt x="1742522" y="455234"/>
                </a:moveTo>
                <a:lnTo>
                  <a:pt x="0" y="455234"/>
                </a:lnTo>
                <a:lnTo>
                  <a:pt x="0" y="0"/>
                </a:lnTo>
                <a:lnTo>
                  <a:pt x="1742522" y="0"/>
                </a:lnTo>
                <a:lnTo>
                  <a:pt x="1742522" y="4552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25793"/>
            <a:ext cx="12983300" cy="6325828"/>
            <a:chOff x="0" y="0"/>
            <a:chExt cx="3419470" cy="1666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19470" cy="1666061"/>
            </a:xfrm>
            <a:custGeom>
              <a:avLst/>
              <a:gdLst/>
              <a:ahLst/>
              <a:cxnLst/>
              <a:rect r="r" b="b" t="t" l="l"/>
              <a:pathLst>
                <a:path h="1666061" w="3419470">
                  <a:moveTo>
                    <a:pt x="25641" y="0"/>
                  </a:moveTo>
                  <a:lnTo>
                    <a:pt x="3393829" y="0"/>
                  </a:lnTo>
                  <a:cubicBezTo>
                    <a:pt x="3407990" y="0"/>
                    <a:pt x="3419470" y="11480"/>
                    <a:pt x="3419470" y="25641"/>
                  </a:cubicBezTo>
                  <a:lnTo>
                    <a:pt x="3419470" y="1640421"/>
                  </a:lnTo>
                  <a:cubicBezTo>
                    <a:pt x="3419470" y="1654582"/>
                    <a:pt x="3407990" y="1666061"/>
                    <a:pt x="3393829" y="1666061"/>
                  </a:cubicBezTo>
                  <a:lnTo>
                    <a:pt x="25641" y="1666061"/>
                  </a:lnTo>
                  <a:cubicBezTo>
                    <a:pt x="11480" y="1666061"/>
                    <a:pt x="0" y="1654582"/>
                    <a:pt x="0" y="1640421"/>
                  </a:cubicBezTo>
                  <a:lnTo>
                    <a:pt x="0" y="25641"/>
                  </a:lnTo>
                  <a:cubicBezTo>
                    <a:pt x="0" y="11480"/>
                    <a:pt x="11480" y="0"/>
                    <a:pt x="256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7DF7">
                    <a:alpha val="100000"/>
                  </a:srgbClr>
                </a:gs>
                <a:gs pos="100000">
                  <a:srgbClr val="8A7EE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3419470" cy="163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200150"/>
            <a:ext cx="8624497" cy="11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b="true" sz="9000" i="true">
                <a:solidFill>
                  <a:srgbClr val="4021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EXPLICAÇÃO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9296" y="3616981"/>
            <a:ext cx="11982107" cy="470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</a:t>
            </a:r>
            <a:r>
              <a:rPr lang="en-US" sz="2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lgoritmo de Comparação: Ordena elementos baseando-se na relação de grandeza entre eles.</a:t>
            </a:r>
          </a:p>
          <a:p>
            <a:pPr algn="l">
              <a:lnSpc>
                <a:spcPts val="3149"/>
              </a:lnSpc>
            </a:pP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Estabilidade: Mantém a ordem relativa de elementos com valores iguais.</a:t>
            </a:r>
          </a:p>
          <a:p>
            <a:pPr algn="l">
              <a:lnSpc>
                <a:spcPts val="3149"/>
              </a:lnSpc>
            </a:pP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Recurs</a:t>
            </a:r>
            <a:r>
              <a:rPr lang="en-US" sz="2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ividade: A função chama a si mesma para sub-vetores cada vez menores.</a:t>
            </a:r>
          </a:p>
          <a:p>
            <a:pPr algn="l">
              <a:lnSpc>
                <a:spcPts val="3149"/>
              </a:lnSpc>
            </a:pP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</a:t>
            </a:r>
            <a:r>
              <a:rPr lang="en-US" sz="2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ora de Lugar (Out-of-place): Requer memória extra para realizar a fusão (merge).</a:t>
            </a:r>
          </a:p>
          <a:p>
            <a:pPr algn="l">
              <a:lnSpc>
                <a:spcPts val="314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912680"/>
            <a:ext cx="11301259" cy="4345620"/>
          </a:xfrm>
          <a:custGeom>
            <a:avLst/>
            <a:gdLst/>
            <a:ahLst/>
            <a:cxnLst/>
            <a:rect r="r" b="b" t="t" l="l"/>
            <a:pathLst>
              <a:path h="4345620" w="11301259">
                <a:moveTo>
                  <a:pt x="0" y="0"/>
                </a:moveTo>
                <a:lnTo>
                  <a:pt x="11301259" y="0"/>
                </a:lnTo>
                <a:lnTo>
                  <a:pt x="11301259" y="4345620"/>
                </a:lnTo>
                <a:lnTo>
                  <a:pt x="0" y="4345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25" t="-45439" r="-142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68342"/>
            <a:ext cx="9688994" cy="11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b="true" sz="9000" i="true">
                <a:solidFill>
                  <a:srgbClr val="4021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COMPLEXIDADE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99912"/>
            <a:ext cx="14682813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Diferente do Quick Sort ou Bubble Sort, o Merge Sort não é "In-Place" (cria arrays temporários).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 requer um vetor temporário de tamanho n para armazenar os elementos durante a fusão, o que pode ser uma limitação em sistemas com memória extremamente restrita.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Merge Sort, não existe diferença entre o melhor e o pior cenário: a complexidade é sempre O(n \log n).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490809"/>
            <a:ext cx="13513912" cy="4276637"/>
          </a:xfrm>
          <a:custGeom>
            <a:avLst/>
            <a:gdLst/>
            <a:ahLst/>
            <a:cxnLst/>
            <a:rect r="r" b="b" t="t" l="l"/>
            <a:pathLst>
              <a:path h="4276637" w="13513912">
                <a:moveTo>
                  <a:pt x="0" y="0"/>
                </a:moveTo>
                <a:lnTo>
                  <a:pt x="13513912" y="0"/>
                </a:lnTo>
                <a:lnTo>
                  <a:pt x="13513912" y="4276638"/>
                </a:lnTo>
                <a:lnTo>
                  <a:pt x="0" y="4276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356" r="0" b="-53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68342"/>
            <a:ext cx="12748457" cy="223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b="true" sz="9000" i="true">
                <a:solidFill>
                  <a:srgbClr val="4021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ONDE ENCONTRAMOS O MERGE SORT?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9650" y="984249"/>
            <a:ext cx="15308699" cy="11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b="true" sz="9000" i="true">
                <a:solidFill>
                  <a:srgbClr val="4021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VANTAGENS E LIMITAÇÕES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615152" y="6362629"/>
            <a:ext cx="7028156" cy="2895671"/>
            <a:chOff x="0" y="0"/>
            <a:chExt cx="1851037" cy="7626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51037" cy="762646"/>
            </a:xfrm>
            <a:custGeom>
              <a:avLst/>
              <a:gdLst/>
              <a:ahLst/>
              <a:cxnLst/>
              <a:rect r="r" b="b" t="t" l="l"/>
              <a:pathLst>
                <a:path h="762646" w="1851037">
                  <a:moveTo>
                    <a:pt x="47367" y="0"/>
                  </a:moveTo>
                  <a:lnTo>
                    <a:pt x="1803670" y="0"/>
                  </a:lnTo>
                  <a:cubicBezTo>
                    <a:pt x="1816232" y="0"/>
                    <a:pt x="1828280" y="4990"/>
                    <a:pt x="1837163" y="13873"/>
                  </a:cubicBezTo>
                  <a:cubicBezTo>
                    <a:pt x="1846046" y="22757"/>
                    <a:pt x="1851037" y="34804"/>
                    <a:pt x="1851037" y="47367"/>
                  </a:cubicBezTo>
                  <a:lnTo>
                    <a:pt x="1851037" y="715279"/>
                  </a:lnTo>
                  <a:cubicBezTo>
                    <a:pt x="1851037" y="741439"/>
                    <a:pt x="1829830" y="762646"/>
                    <a:pt x="1803670" y="762646"/>
                  </a:cubicBezTo>
                  <a:lnTo>
                    <a:pt x="47367" y="762646"/>
                  </a:lnTo>
                  <a:cubicBezTo>
                    <a:pt x="21207" y="762646"/>
                    <a:pt x="0" y="741439"/>
                    <a:pt x="0" y="715279"/>
                  </a:cubicBezTo>
                  <a:lnTo>
                    <a:pt x="0" y="47367"/>
                  </a:lnTo>
                  <a:cubicBezTo>
                    <a:pt x="0" y="21207"/>
                    <a:pt x="21207" y="0"/>
                    <a:pt x="473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7DF7">
                    <a:alpha val="100000"/>
                  </a:srgbClr>
                </a:gs>
                <a:gs pos="100000">
                  <a:srgbClr val="8A7EE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851037" cy="734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9650" y="6362629"/>
            <a:ext cx="6962445" cy="2895671"/>
            <a:chOff x="0" y="0"/>
            <a:chExt cx="1833730" cy="762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3730" cy="762646"/>
            </a:xfrm>
            <a:custGeom>
              <a:avLst/>
              <a:gdLst/>
              <a:ahLst/>
              <a:cxnLst/>
              <a:rect r="r" b="b" t="t" l="l"/>
              <a:pathLst>
                <a:path h="762646" w="1833730">
                  <a:moveTo>
                    <a:pt x="51150" y="0"/>
                  </a:moveTo>
                  <a:lnTo>
                    <a:pt x="1782580" y="0"/>
                  </a:lnTo>
                  <a:cubicBezTo>
                    <a:pt x="1810830" y="0"/>
                    <a:pt x="1833730" y="22901"/>
                    <a:pt x="1833730" y="51150"/>
                  </a:cubicBezTo>
                  <a:lnTo>
                    <a:pt x="1833730" y="711496"/>
                  </a:lnTo>
                  <a:cubicBezTo>
                    <a:pt x="1833730" y="739745"/>
                    <a:pt x="1810830" y="762646"/>
                    <a:pt x="1782580" y="762646"/>
                  </a:cubicBezTo>
                  <a:lnTo>
                    <a:pt x="51150" y="762646"/>
                  </a:lnTo>
                  <a:cubicBezTo>
                    <a:pt x="37584" y="762646"/>
                    <a:pt x="24574" y="757257"/>
                    <a:pt x="14981" y="747664"/>
                  </a:cubicBezTo>
                  <a:cubicBezTo>
                    <a:pt x="5389" y="738072"/>
                    <a:pt x="0" y="725062"/>
                    <a:pt x="0" y="711496"/>
                  </a:cubicBezTo>
                  <a:lnTo>
                    <a:pt x="0" y="51150"/>
                  </a:lnTo>
                  <a:cubicBezTo>
                    <a:pt x="0" y="37584"/>
                    <a:pt x="5389" y="24574"/>
                    <a:pt x="14981" y="14981"/>
                  </a:cubicBezTo>
                  <a:cubicBezTo>
                    <a:pt x="24574" y="5389"/>
                    <a:pt x="37584" y="0"/>
                    <a:pt x="51150" y="0"/>
                  </a:cubicBezTo>
                  <a:close/>
                </a:path>
              </a:pathLst>
            </a:custGeom>
            <a:ln w="19050" cap="rnd">
              <a:solidFill>
                <a:srgbClr val="8B7EF3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833730" cy="734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20793" y="7151335"/>
            <a:ext cx="610016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Desempenho Previsível (O</a:t>
            </a:r>
          </a:p>
          <a:p>
            <a:pPr algn="l">
              <a:lnSpc>
                <a:spcPts val="252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(n log n))</a:t>
            </a:r>
            <a:r>
              <a:rPr lang="en-US" sz="2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: </a:t>
            </a:r>
          </a:p>
          <a:p>
            <a:pPr algn="l">
              <a:lnSpc>
                <a:spcPts val="2520"/>
              </a:lnSpc>
            </a:pPr>
            <a:r>
              <a:rPr lang="en-US" sz="20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O Merge Sort garante complexidade de tempo nos casos melhor, médio e pior.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9474" y="3184777"/>
            <a:ext cx="6562798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Ideal para Grandes Volumes de Dados: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 excelente para ordenar estruturas de dados que não cabem inteiramente na memória RAM (ordenação externa), pois acessa os dados sequencialmente.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64041" y="6888127"/>
            <a:ext cx="6779266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Recursão e Stack Overflow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A implementação recursiva padrão em Python pode causar erros de stack overflow em listas extremamente longas, embora isso possa ser resolvido usando uma abordagem iterativa (bottom-up).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15152" y="2824726"/>
            <a:ext cx="7028156" cy="2895671"/>
            <a:chOff x="0" y="0"/>
            <a:chExt cx="1851037" cy="7626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51037" cy="762646"/>
            </a:xfrm>
            <a:custGeom>
              <a:avLst/>
              <a:gdLst/>
              <a:ahLst/>
              <a:cxnLst/>
              <a:rect r="r" b="b" t="t" l="l"/>
              <a:pathLst>
                <a:path h="762646" w="1851037">
                  <a:moveTo>
                    <a:pt x="47367" y="0"/>
                  </a:moveTo>
                  <a:lnTo>
                    <a:pt x="1803670" y="0"/>
                  </a:lnTo>
                  <a:cubicBezTo>
                    <a:pt x="1816232" y="0"/>
                    <a:pt x="1828280" y="4990"/>
                    <a:pt x="1837163" y="13873"/>
                  </a:cubicBezTo>
                  <a:cubicBezTo>
                    <a:pt x="1846046" y="22757"/>
                    <a:pt x="1851037" y="34804"/>
                    <a:pt x="1851037" y="47367"/>
                  </a:cubicBezTo>
                  <a:lnTo>
                    <a:pt x="1851037" y="715279"/>
                  </a:lnTo>
                  <a:cubicBezTo>
                    <a:pt x="1851037" y="741439"/>
                    <a:pt x="1829830" y="762646"/>
                    <a:pt x="1803670" y="762646"/>
                  </a:cubicBezTo>
                  <a:lnTo>
                    <a:pt x="47367" y="762646"/>
                  </a:lnTo>
                  <a:cubicBezTo>
                    <a:pt x="21207" y="762646"/>
                    <a:pt x="0" y="741439"/>
                    <a:pt x="0" y="715279"/>
                  </a:cubicBezTo>
                  <a:lnTo>
                    <a:pt x="0" y="47367"/>
                  </a:lnTo>
                  <a:cubicBezTo>
                    <a:pt x="0" y="21207"/>
                    <a:pt x="21207" y="0"/>
                    <a:pt x="473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7DF7">
                    <a:alpha val="100000"/>
                  </a:srgbClr>
                </a:gs>
                <a:gs pos="100000">
                  <a:srgbClr val="8A7EE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851037" cy="734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864041" y="3290822"/>
            <a:ext cx="6563303" cy="159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Alto Consumo de Memória (O(n))</a:t>
            </a:r>
            <a:r>
              <a:rPr lang="en-US" sz="19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: A principal desvantagem é que ele não é um algoritmo "in-place". Ele requer um espaço auxiliar de memória proporcional ao tamanho da lista ( ) para m</a:t>
            </a:r>
            <a:r>
              <a:rPr lang="en-US" sz="19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esclar os subarrays.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89650" y="2824726"/>
            <a:ext cx="6962445" cy="2895671"/>
            <a:chOff x="0" y="0"/>
            <a:chExt cx="1833730" cy="76264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33730" cy="762646"/>
            </a:xfrm>
            <a:custGeom>
              <a:avLst/>
              <a:gdLst/>
              <a:ahLst/>
              <a:cxnLst/>
              <a:rect r="r" b="b" t="t" l="l"/>
              <a:pathLst>
                <a:path h="762646" w="1833730">
                  <a:moveTo>
                    <a:pt x="51150" y="0"/>
                  </a:moveTo>
                  <a:lnTo>
                    <a:pt x="1782580" y="0"/>
                  </a:lnTo>
                  <a:cubicBezTo>
                    <a:pt x="1810830" y="0"/>
                    <a:pt x="1833730" y="22901"/>
                    <a:pt x="1833730" y="51150"/>
                  </a:cubicBezTo>
                  <a:lnTo>
                    <a:pt x="1833730" y="711496"/>
                  </a:lnTo>
                  <a:cubicBezTo>
                    <a:pt x="1833730" y="739745"/>
                    <a:pt x="1810830" y="762646"/>
                    <a:pt x="1782580" y="762646"/>
                  </a:cubicBezTo>
                  <a:lnTo>
                    <a:pt x="51150" y="762646"/>
                  </a:lnTo>
                  <a:cubicBezTo>
                    <a:pt x="37584" y="762646"/>
                    <a:pt x="24574" y="757257"/>
                    <a:pt x="14981" y="747664"/>
                  </a:cubicBezTo>
                  <a:cubicBezTo>
                    <a:pt x="5389" y="738072"/>
                    <a:pt x="0" y="725062"/>
                    <a:pt x="0" y="711496"/>
                  </a:cubicBezTo>
                  <a:lnTo>
                    <a:pt x="0" y="51150"/>
                  </a:lnTo>
                  <a:cubicBezTo>
                    <a:pt x="0" y="37584"/>
                    <a:pt x="5389" y="24574"/>
                    <a:pt x="14981" y="14981"/>
                  </a:cubicBezTo>
                  <a:cubicBezTo>
                    <a:pt x="24574" y="5389"/>
                    <a:pt x="37584" y="0"/>
                    <a:pt x="51150" y="0"/>
                  </a:cubicBezTo>
                  <a:close/>
                </a:path>
              </a:pathLst>
            </a:custGeom>
            <a:ln w="19050" cap="rnd">
              <a:solidFill>
                <a:srgbClr val="8B7EF3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833730" cy="734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38907" y="2021269"/>
            <a:ext cx="6574816" cy="3850539"/>
            <a:chOff x="0" y="0"/>
            <a:chExt cx="1018611" cy="596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8611" cy="596549"/>
            </a:xfrm>
            <a:custGeom>
              <a:avLst/>
              <a:gdLst/>
              <a:ahLst/>
              <a:cxnLst/>
              <a:rect r="r" b="b" t="t" l="l"/>
              <a:pathLst>
                <a:path h="596549" w="1018611">
                  <a:moveTo>
                    <a:pt x="70651" y="0"/>
                  </a:moveTo>
                  <a:lnTo>
                    <a:pt x="947960" y="0"/>
                  </a:lnTo>
                  <a:cubicBezTo>
                    <a:pt x="986980" y="0"/>
                    <a:pt x="1018611" y="31631"/>
                    <a:pt x="1018611" y="70651"/>
                  </a:cubicBezTo>
                  <a:lnTo>
                    <a:pt x="1018611" y="525899"/>
                  </a:lnTo>
                  <a:cubicBezTo>
                    <a:pt x="1018611" y="564918"/>
                    <a:pt x="986980" y="596549"/>
                    <a:pt x="947960" y="596549"/>
                  </a:cubicBezTo>
                  <a:lnTo>
                    <a:pt x="70651" y="596549"/>
                  </a:lnTo>
                  <a:cubicBezTo>
                    <a:pt x="31631" y="596549"/>
                    <a:pt x="0" y="564918"/>
                    <a:pt x="0" y="525899"/>
                  </a:cubicBezTo>
                  <a:lnTo>
                    <a:pt x="0" y="70651"/>
                  </a:lnTo>
                  <a:cubicBezTo>
                    <a:pt x="0" y="31631"/>
                    <a:pt x="31631" y="0"/>
                    <a:pt x="70651" y="0"/>
                  </a:cubicBezTo>
                  <a:close/>
                </a:path>
              </a:pathLst>
            </a:custGeom>
            <a:blipFill>
              <a:blip r:embed="rId2"/>
              <a:stretch>
                <a:fillRect l="-2120" t="0" r="-212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088953"/>
            <a:ext cx="8507435" cy="4293101"/>
            <a:chOff x="0" y="0"/>
            <a:chExt cx="2240641" cy="11306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0641" cy="1130693"/>
            </a:xfrm>
            <a:custGeom>
              <a:avLst/>
              <a:gdLst/>
              <a:ahLst/>
              <a:cxnLst/>
              <a:rect r="r" b="b" t="t" l="l"/>
              <a:pathLst>
                <a:path h="1130693" w="2240641">
                  <a:moveTo>
                    <a:pt x="41861" y="0"/>
                  </a:moveTo>
                  <a:lnTo>
                    <a:pt x="2198781" y="0"/>
                  </a:lnTo>
                  <a:cubicBezTo>
                    <a:pt x="2209883" y="0"/>
                    <a:pt x="2220530" y="4410"/>
                    <a:pt x="2228381" y="12261"/>
                  </a:cubicBezTo>
                  <a:cubicBezTo>
                    <a:pt x="2236231" y="20111"/>
                    <a:pt x="2240641" y="30759"/>
                    <a:pt x="2240641" y="41861"/>
                  </a:cubicBezTo>
                  <a:lnTo>
                    <a:pt x="2240641" y="1088832"/>
                  </a:lnTo>
                  <a:cubicBezTo>
                    <a:pt x="2240641" y="1111952"/>
                    <a:pt x="2221900" y="1130693"/>
                    <a:pt x="2198781" y="1130693"/>
                  </a:cubicBezTo>
                  <a:lnTo>
                    <a:pt x="41861" y="1130693"/>
                  </a:lnTo>
                  <a:cubicBezTo>
                    <a:pt x="30759" y="1130693"/>
                    <a:pt x="20111" y="1126283"/>
                    <a:pt x="12261" y="1118433"/>
                  </a:cubicBezTo>
                  <a:cubicBezTo>
                    <a:pt x="4410" y="1110582"/>
                    <a:pt x="0" y="1099935"/>
                    <a:pt x="0" y="1088832"/>
                  </a:cubicBezTo>
                  <a:lnTo>
                    <a:pt x="0" y="41861"/>
                  </a:lnTo>
                  <a:cubicBezTo>
                    <a:pt x="0" y="30759"/>
                    <a:pt x="4410" y="20111"/>
                    <a:pt x="12261" y="12261"/>
                  </a:cubicBezTo>
                  <a:cubicBezTo>
                    <a:pt x="20111" y="4410"/>
                    <a:pt x="30759" y="0"/>
                    <a:pt x="41861" y="0"/>
                  </a:cubicBezTo>
                  <a:close/>
                </a:path>
              </a:pathLst>
            </a:custGeom>
            <a:ln w="19050" cap="rnd">
              <a:solidFill>
                <a:srgbClr val="8B7EF3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2240641" cy="1102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200150"/>
            <a:ext cx="9456321" cy="11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b="true" sz="9000" i="true">
                <a:solidFill>
                  <a:srgbClr val="4021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CONCLUSÃO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4710" y="3449566"/>
            <a:ext cx="7655414" cy="353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Em suma, o Merge Sort exemplifica perfeitamente o poder da estratégia Dividir para Conquistar. El</a:t>
            </a:r>
            <a:r>
              <a:rPr lang="en-US" sz="24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 troca um pouco de uso de memória extra por uma garantia de velocidade e organização que poucos algoritmos conseguem superar, consolidando-se como uma ferramenta indispensável para qualquer engenheiro de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DAHIFjmnPlo</dc:identifier>
  <dcterms:modified xsi:type="dcterms:W3CDTF">2011-08-01T06:04:30Z</dcterms:modified>
  <cp:revision>1</cp:revision>
  <dc:title>Seminário - Merge Sort</dc:title>
</cp:coreProperties>
</file>